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71" r:id="rId5"/>
    <p:sldId id="270" r:id="rId6"/>
    <p:sldId id="273" r:id="rId7"/>
    <p:sldId id="276" r:id="rId8"/>
    <p:sldId id="282" r:id="rId9"/>
    <p:sldId id="275" r:id="rId10"/>
    <p:sldId id="272" r:id="rId11"/>
    <p:sldId id="274" r:id="rId12"/>
    <p:sldId id="278" r:id="rId13"/>
    <p:sldId id="283" r:id="rId14"/>
    <p:sldId id="269" r:id="rId15"/>
    <p:sldId id="286" r:id="rId16"/>
    <p:sldId id="285" r:id="rId17"/>
    <p:sldId id="287" r:id="rId18"/>
    <p:sldId id="268" r:id="rId19"/>
    <p:sldId id="279" r:id="rId20"/>
    <p:sldId id="267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92"/>
    <a:srgbClr val="374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761E8-2E34-4F63-996B-590B61666F18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0EFB5-9827-4B4C-A796-265FDA60E55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067E7-1CE2-43AB-BCCE-E83810B2A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45B6E-3D9B-46F3-A6DE-E1375FF712B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659" y="545518"/>
            <a:ext cx="901328" cy="9523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28975" y="466846"/>
            <a:ext cx="6096000" cy="10310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374397"/>
                </a:solidFill>
                <a:effectLst/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GURU NANAK COLLEGE (AUTONOMOUS)</a:t>
            </a:r>
            <a:endParaRPr lang="en-US" sz="2800" b="1" dirty="0">
              <a:solidFill>
                <a:srgbClr val="374397"/>
              </a:solidFill>
              <a:effectLst/>
              <a:latin typeface="Arial Nova Cond" panose="020B0506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A Sikh Minority Institution  I  A Unit of Guru Nanak Educational Society (Regd.)</a:t>
            </a:r>
            <a:endParaRPr lang="en-IN" sz="1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Affiliated to University of Madras | Approved by AICTE | Accredited at "A++" Grade by NAAC  </a:t>
            </a:r>
            <a:endParaRPr lang="en-IN" sz="1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Guru Nanak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Salai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Velachery, Chennai - 600042.</a:t>
            </a:r>
            <a:endParaRPr lang="en-IN" sz="1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85;p1"/>
          <p:cNvSpPr txBox="1">
            <a:spLocks noGrp="1"/>
          </p:cNvSpPr>
          <p:nvPr>
            <p:ph type="ctrTitle"/>
          </p:nvPr>
        </p:nvSpPr>
        <p:spPr>
          <a:xfrm>
            <a:off x="1480642" y="2565121"/>
            <a:ext cx="9592666" cy="103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US" dirty="0"/>
              <a:t>AI PERSONAL ASSISTANT</a:t>
            </a:r>
            <a:endParaRPr dirty="0"/>
          </a:p>
        </p:txBody>
      </p:sp>
      <p:sp>
        <p:nvSpPr>
          <p:cNvPr id="13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1524000" y="4051217"/>
            <a:ext cx="9144000" cy="194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Roll No. 		:   71213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Register No.		:   2313141058015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Name			:   KACHA BALAJI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Class &amp; Sec.		:   III A </a:t>
            </a:r>
            <a:r>
              <a:rPr lang="en-US" dirty="0" err="1"/>
              <a:t>B.Sc</a:t>
            </a:r>
            <a:r>
              <a:rPr lang="en-US" dirty="0"/>
              <a:t> COMPUTER SCIENCE</a:t>
            </a:r>
            <a:endParaRPr lang="en-US" dirty="0"/>
          </a:p>
          <a:p>
            <a:pPr lvl="0" algn="just">
              <a:buClr>
                <a:schemeClr val="dk1"/>
              </a:buClr>
              <a:buSzPts val="2400"/>
            </a:pPr>
            <a:r>
              <a:rPr lang="en-US" dirty="0"/>
              <a:t>Name of the Guide	: </a:t>
            </a:r>
            <a:r>
              <a:rPr lang="en-US" dirty="0">
                <a:cs typeface="+mn-lt"/>
              </a:rPr>
              <a:t>  </a:t>
            </a:r>
            <a:r>
              <a:rPr lang="en-IN" dirty="0">
                <a:cs typeface="+mn-lt"/>
                <a:sym typeface="+mn-ea"/>
              </a:rPr>
              <a:t>Ms. </a:t>
            </a:r>
            <a:r>
              <a:rPr lang="en-IN" dirty="0" err="1">
                <a:cs typeface="+mn-lt"/>
                <a:sym typeface="+mn-ea"/>
              </a:rPr>
              <a:t>P.Malathi</a:t>
            </a:r>
            <a:r>
              <a:rPr lang="en-IN" dirty="0">
                <a:cs typeface="+mn-lt"/>
                <a:sym typeface="+mn-ea"/>
              </a:rPr>
              <a:t> M.C.A., </a:t>
            </a:r>
            <a:r>
              <a:rPr lang="en-IN" dirty="0" err="1">
                <a:cs typeface="+mn-lt"/>
                <a:sym typeface="+mn-ea"/>
              </a:rPr>
              <a:t>M.Phil</a:t>
            </a:r>
            <a:r>
              <a:rPr lang="en-US" alt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en-IN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Google Shape;91;p2"/>
          <p:cNvSpPr txBox="1"/>
          <p:nvPr/>
        </p:nvSpPr>
        <p:spPr>
          <a:xfrm>
            <a:off x="838200" y="587862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ABSTRACT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Google Shape;92;p2"/>
          <p:cNvSpPr txBox="1"/>
          <p:nvPr/>
        </p:nvSpPr>
        <p:spPr>
          <a:xfrm>
            <a:off x="838200" y="206914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SzPts val="2800"/>
            </a:pPr>
            <a:r>
              <a:rPr lang="en-US" altLang="en-US" dirty="0" smtClean="0">
                <a:sym typeface="+mn-ea"/>
              </a:rPr>
              <a:t>This project presents Neural-Core, an advanced AI Personal Assistant designed to bridge the gap between human intent and system execution. Developed using Python and powered by the Gemini 1.5 Flash model, the assistant utilizes a technical, high-performance UI built with CustomTkinter. The system features a secure authentication gateway and an autonomous function-calling engine, allowing users to control local applications (like Notepad and Edge) and monitor  hardware vitals through natural language. By integrating real-time speech recognition and hardware-level diagnostics, Neural-Core provides a seamless, hands-free experience for optimized personal productivity.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1622820" y="2188736"/>
            <a:ext cx="3592285" cy="38348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97;p3"/>
          <p:cNvSpPr txBox="1"/>
          <p:nvPr/>
        </p:nvSpPr>
        <p:spPr>
          <a:xfrm>
            <a:off x="838200" y="529247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SOFTWARE REQUIREMENTS SPECIFICATION (SRS)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902737" y="2855924"/>
            <a:ext cx="3032449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dirty="0"/>
              <a:t>Processor: Intel i3 or above </a:t>
            </a: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RAM: 8 GB Minimum </a:t>
            </a: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Storage: 20 GB Free Space </a:t>
            </a: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Input: Active Microphone for voice commands</a:t>
            </a:r>
            <a:endParaRPr lang="en-US" altLang="en-US" dirty="0"/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6510872" y="2188736"/>
            <a:ext cx="3592285" cy="3834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704178" y="233766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Hardware Requirements</a:t>
            </a:r>
            <a:endParaRPr lang="en-IN" b="1" dirty="0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749614" y="2557449"/>
            <a:ext cx="3036281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US" dirty="0"/>
          </a:p>
          <a:p>
            <a:r>
              <a:rPr lang="en-US" altLang="en-US" dirty="0"/>
              <a:t>OS: Windows 10 / 11 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Language: Python 3.x 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GUI Framework: CustomTkinter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AI Engine: Google Gemini API</a:t>
            </a:r>
            <a:endParaRPr lang="en-US" altLang="en-US" dirty="0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642479" y="226657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Software Requirements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663639" y="473347"/>
            <a:ext cx="9276184" cy="10061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639" y="129480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Condensed" panose="020B0502040204020203" pitchFamily="34" charset="0"/>
              </a:rPr>
              <a:t>SYSTEM ARCHITECTURE DIAGRAM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pic>
        <p:nvPicPr>
          <p:cNvPr id="77" name="Picture 77" descr="ChatGPT Image Feb 28, 2026, 09_37_3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7310" y="1664970"/>
            <a:ext cx="6481445" cy="4612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4. Database Layer</a:t>
            </a:r>
            <a:endParaRPr lang="en-US" b="1"/>
          </a:p>
          <a:p>
            <a:r>
              <a:rPr lang="en-US"/>
              <a:t>PostgreSQL Database (Backend)</a:t>
            </a:r>
            <a:endParaRPr lang="en-US"/>
          </a:p>
          <a:p>
            <a:r>
              <a:rPr lang="en-US"/>
              <a:t>Stores Users, Courses, Marketplace, and Income data</a:t>
            </a:r>
            <a:endParaRPr lang="en-US"/>
          </a:p>
          <a:p>
            <a:r>
              <a:rPr lang="en-US"/>
              <a:t>Ensures secure and structured data management</a:t>
            </a:r>
            <a:endParaRPr lang="en-US"/>
          </a:p>
        </p:txBody>
      </p:sp>
      <p:sp>
        <p:nvSpPr>
          <p:cNvPr id="3" name="Google Shape;103;p4"/>
          <p:cNvSpPr txBox="1"/>
          <p:nvPr/>
        </p:nvSpPr>
        <p:spPr>
          <a:xfrm>
            <a:off x="663639" y="473347"/>
            <a:ext cx="9276184" cy="10061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639" y="129480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Condensed" panose="020B0502040204020203" pitchFamily="34" charset="0"/>
              </a:rPr>
              <a:t>SYSTEM ARCHITECTURE DIAGRAM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86204" y="1749674"/>
            <a:ext cx="3872204" cy="20900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67619" y="1749673"/>
            <a:ext cx="3872204" cy="20900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6204" y="4175384"/>
            <a:ext cx="3872204" cy="20900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067619" y="4175385"/>
            <a:ext cx="3872204" cy="20900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586204" y="2089725"/>
            <a:ext cx="5803641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Layer: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Processing: Developed using CustomTkinter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a responsive, modern terminal UI.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Interception: Utilizes the SpeechRecognition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to capture and digitize natural language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microphone.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1582" y="2089725"/>
            <a:ext cx="3872204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Logic Router (Python Backend):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central nervous system, coordinating data flow between the UI and backend execution modules.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asynchronous threads to prevent the UI from freezing during AI processing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23526" y="4555771"/>
            <a:ext cx="6097554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AI Module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the Google Gemini 1.5 Flash API for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natural language understanding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JWT Authentication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Intent Classification to determine if a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wants to launch an app, check hardware, chat.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06801" y="4555770"/>
            <a:ext cx="363699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feedback through a live terminal console.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audible responses using the pyttsx3 Text-to-Speech (TTS) engine.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3381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MODULE DESCRIPTION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131582" y="1522804"/>
            <a:ext cx="0" cy="48519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1660" y="1912620"/>
            <a:ext cx="5355590" cy="4688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Authentication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&amp; Security: Handles the primary entry point for the application, requiring root credentials to authorize system access.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Initialization: Once verified, the module starts a new user session and loads individual preferences and mascot assets.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 Restricts execution of high-level system commands until a secure handshake is established.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Verification: Displays a dedicated login interface featuring a 3D character asset to signify system readiness.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6114" y="1912584"/>
            <a:ext cx="5402580" cy="5077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Signal Capture &amp; Processing Module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(STT): Utilizes a microphone to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intercept voice signals and convert them into digital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strings for AI processing.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 Noise Adjustment: Implements a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calibration phase to sample background sounds and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filter environmental noise for clearer signal reception.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Interception: Monitors thes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CustomTkinter terminal for direct text-based user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commands as a fallback for voice.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 Ensures that captured signals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are immediately forwarded to the Master Logic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Router with minimal latency.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6000" dirty="0">
                <a:latin typeface="Agency FB" panose="020B0503020202020204" pitchFamily="34" charset="0"/>
                <a:sym typeface="+mn-ea"/>
              </a:rPr>
              <a:t>SYSTEM DESIGN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1970"/>
            <a:ext cx="5292725" cy="45834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3. Neural Processing Engine (Core AI)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Classification: Leverages the Google Gemini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1.5 Flash API to analyze user strings and identify the 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specific requested action.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Logical Routing: Acts as the central brain, mapping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Classified intents (e.g., "Check Health") to localized                   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python functions.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Generation: Formulates natural language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responses based on the successful execution or failure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of a system task.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Decision Making: Determines if a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command requires a local system call or a purely \ 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conversational response.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6131582" y="1522804"/>
            <a:ext cx="0" cy="48519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838200" y="1306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dirty="0">
                <a:latin typeface="Bahnschrift Condensed" panose="020B0502040204020203" pitchFamily="34" charset="0"/>
                <a:sym typeface="+mn-ea"/>
              </a:rPr>
              <a:t>MODULE DESCRIPTIO</a:t>
            </a:r>
            <a:r>
              <a:rPr lang="en-US" altLang="en-IN" dirty="0">
                <a:latin typeface="Bahnschrift Condensed" panose="020B0502040204020203" pitchFamily="34" charset="0"/>
                <a:sym typeface="+mn-ea"/>
              </a:rPr>
              <a:t>N</a:t>
            </a:r>
            <a:endParaRPr lang="en-US" altLang="en-IN" dirty="0">
              <a:latin typeface="Bahnschrift Condensed" panose="020B0502040204020203" pitchFamily="3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132195" y="1691005"/>
            <a:ext cx="5090795" cy="4486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 Hardware Diagnostic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Telemetry: Utilizes the psutil library to pull live data directly from internal hardware sensors.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Metric Monitoring: Specifically tracks CPU load percentage and battery health status including plug-in detection.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Reporting: Formats raw sensor data into a human-readable report for the output terminal.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Health Alerts: Provides early warnings if system vitals exceed normal operating thresholds.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3381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MODULE DESCRIPTION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131582" y="1522804"/>
            <a:ext cx="0" cy="48519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5951" y="2223821"/>
            <a:ext cx="535577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Tool Dispatcher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Execution: Directly interacts with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operating system to launch local software such as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VS Code, Notepad, or browsers.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Management: Initializes applications as independent subprocesses, allowing the assistant to remain active while other apps are running.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Command Mapping: Translates natural language requests into specific file paths and executable commands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2540" y="2223770"/>
            <a:ext cx="54356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Feedback &amp; Output Module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Matrix Console: Manages a live-scrolling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terminal log that displays every background    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operation and AI thought process.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Animation Handler: Controls the pulsing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circular aura on the UI to provide visual cues for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"Listening" and "Thinking" states.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Synthesis (TTS): Converts text responses into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synthesized audio using the pyttsx3 engine for an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hands-free experience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3381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DATABASE DESIGN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712020" y="1690960"/>
            <a:ext cx="0" cy="45790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16965" y="1857375"/>
            <a:ext cx="35198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Table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password_hash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last_login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Logs Table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log_id (Primary Key)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user_id (Foreign Key)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input_type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command_text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ai_response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86245" y="1690370"/>
            <a:ext cx="4032885" cy="441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3. Hardware Metrics Table</a:t>
            </a:r>
            <a:endParaRPr lang="en-US" altLang="en-US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metric_id (Primary Key)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user_id (Foreign Key)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cpu_usage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battery_level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power_status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Configuration Table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config_id (Primary Key)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app_name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executable_path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3381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DFD (Data Flow Diagram)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4" name="Picture 3" descr="ChatGPT Image Mar 1, 2026, 06_38_3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785" y="1691005"/>
            <a:ext cx="4298315" cy="4739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3;p4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SYSTEM DESIGN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3381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DFD (Data Flow Diagram)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500" y="1833368"/>
            <a:ext cx="6097554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Entity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OS (WINDOWS)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Process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Receive Input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 Intent classification (MASTER LOGIC)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Executive local command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 Query AI model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 Generate Output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1582" y="1438832"/>
            <a:ext cx="6097554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Text 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Courses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Status / Output String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➔ Signal Normalization ➔ Intent Logic ➔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Execution (Local OS / Gemini API) ➔ Output Synthesis ➔ User Feedback.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774660" y="1688486"/>
            <a:ext cx="0" cy="45790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6000" dirty="0">
                <a:latin typeface="Agency FB" panose="020B0503020202020204" pitchFamily="34" charset="0"/>
                <a:sym typeface="+mn-ea"/>
              </a:rPr>
              <a:t>SYSTEM</a:t>
            </a:r>
            <a:r>
              <a:rPr lang="en-US" dirty="0">
                <a:latin typeface="Agency FB" panose="020B0503020202020204" pitchFamily="34" charset="0"/>
                <a:sym typeface="+mn-ea"/>
              </a:rPr>
              <a:t> </a:t>
            </a:r>
            <a:r>
              <a:rPr lang="en-US" sz="6000" dirty="0">
                <a:latin typeface="Agency FB" panose="020B0503020202020204" pitchFamily="34" charset="0"/>
                <a:sym typeface="+mn-ea"/>
              </a:rPr>
              <a:t>DESIGN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Class Diagram Example: GUI</a:t>
            </a:r>
            <a:endParaRPr lang="en-US" altLang="en-US"/>
          </a:p>
        </p:txBody>
      </p:sp>
      <p:sp>
        <p:nvSpPr>
          <p:cNvPr id="4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933450" y="1322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IN" dirty="0">
                <a:latin typeface="Bahnschrift Condensed" panose="020B0502040204020203" pitchFamily="34" charset="0"/>
                <a:sym typeface="+mn-ea"/>
              </a:rPr>
              <a:t>CLASS DIAGRAM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2124710" y="2494280"/>
            <a:ext cx="7888605" cy="3233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74" name="Picture 74" descr="ChatGPT Image Feb 28, 2026, 09_34_1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785" y="2393950"/>
            <a:ext cx="648144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09;p5"/>
          <p:cNvSpPr txBox="1"/>
          <p:nvPr/>
        </p:nvSpPr>
        <p:spPr>
          <a:xfrm>
            <a:off x="838200" y="529247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IMPLEMENTATION</a:t>
            </a:r>
            <a:endParaRPr lang="en-US" dirty="0"/>
          </a:p>
        </p:txBody>
      </p:sp>
      <p:sp>
        <p:nvSpPr>
          <p:cNvPr id="4" name="Google Shape;110;p5"/>
          <p:cNvSpPr txBox="1"/>
          <p:nvPr/>
        </p:nvSpPr>
        <p:spPr>
          <a:xfrm>
            <a:off x="401955" y="1854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SzPts val="2800"/>
            </a:pPr>
            <a:r>
              <a:rPr lang="en-US" altLang="en-US" dirty="0"/>
              <a:t>.</a:t>
            </a:r>
            <a:endParaRPr lang="en-US" dirty="0"/>
          </a:p>
        </p:txBody>
      </p:sp>
      <p:pic>
        <p:nvPicPr>
          <p:cNvPr id="6" name="Picture 5" descr="WhatsApp Image 2026-03-01 at 18.50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070" y="2011680"/>
            <a:ext cx="9304655" cy="40373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652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Bahnschrift SemiBold Condensed" panose="020B0502040204020203" charset="0"/>
                <a:cs typeface="Bahnschrift SemiBold Condensed" panose="020B0502040204020203" charset="0"/>
              </a:rPr>
              <a:t>Login Page</a:t>
            </a:r>
            <a:r>
              <a:rPr lang="en-US"/>
              <a:t>: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WhatsApp Image 2026-03-01 at 18.50.03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5235" y="1825625"/>
            <a:ext cx="9447530" cy="4351655"/>
          </a:xfrm>
          <a:prstGeom prst="rect">
            <a:avLst/>
          </a:prstGeom>
        </p:spPr>
      </p:pic>
      <p:sp>
        <p:nvSpPr>
          <p:cNvPr id="4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1204595" y="929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Bahnschrift SemiBold Condensed" panose="020B0502040204020203" charset="0"/>
                <a:cs typeface="Bahnschrift SemiBold Condensed" panose="020B0502040204020203" charset="0"/>
              </a:rPr>
              <a:t>Home Page:</a:t>
            </a:r>
            <a:endParaRPr lang="en-US"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 descr="WhatsApp Image 2026-03-01 at 18.50.04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4320" y="1825625"/>
            <a:ext cx="8387080" cy="4351655"/>
          </a:xfrm>
          <a:prstGeom prst="rect">
            <a:avLst/>
          </a:prstGeom>
        </p:spPr>
      </p:pic>
      <p:sp>
        <p:nvSpPr>
          <p:cNvPr id="6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1293495" y="1183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Bahnschrift SemiBold Condensed" panose="020B0502040204020203" charset="0"/>
                <a:cs typeface="Bahnschrift SemiBold Condensed" panose="020B0502040204020203" charset="0"/>
              </a:rPr>
              <a:t>Output: Seaching</a:t>
            </a:r>
            <a:endParaRPr lang="en-US"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Content Placeholder 7" descr="WhatsApp Image 2026-03-01 at 18.50.0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9835" y="1825625"/>
            <a:ext cx="9739630" cy="4351655"/>
          </a:xfrm>
          <a:prstGeom prst="rect">
            <a:avLst/>
          </a:prstGeom>
        </p:spPr>
      </p:pic>
      <p:sp>
        <p:nvSpPr>
          <p:cNvPr id="4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1306195" y="1170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Bahnschrift SemiBold Condensed" panose="020B0502040204020203" charset="0"/>
                <a:cs typeface="Bahnschrift SemiBold Condensed" panose="020B0502040204020203" charset="0"/>
              </a:rPr>
              <a:t>Output: Command</a:t>
            </a:r>
            <a:endParaRPr lang="en-US"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27;p8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TESTING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373" y="1797518"/>
            <a:ext cx="6097554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Testing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root authentication and login function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system tool activatin (notepad and vs code)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real time hardware telemetry retrieval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voice to text accuracy under noise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CLOUD Testing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1.5 flash api connectivity verified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latency tested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transmission to cloud confirmed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27;p8"/>
          <p:cNvSpPr txBox="1"/>
          <p:nvPr/>
        </p:nvSpPr>
        <p:spPr>
          <a:xfrm>
            <a:off x="838200" y="365125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TESTING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81100" y="198120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 Result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working successfully without major errors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(voice, ai, os execution) functioning as expected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27;p8"/>
          <p:cNvSpPr txBox="1"/>
          <p:nvPr/>
        </p:nvSpPr>
        <p:spPr>
          <a:xfrm>
            <a:off x="660919" y="348343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CONCLUSION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50892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SYSTEM BENEFITS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38200" y="2078446"/>
            <a:ext cx="9526905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autonomous desktop interface for hands-free computer management and automation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Empowers users to monitor hardware health and launch local applications using natural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high-speed intent classification and conversational intelligence via gemini 1.5 flash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technical and user-friendly terminal environment with real-time visual and audio feedback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9391" y="368567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OVERALL PERFORMANCE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49325" y="4276471"/>
            <a:ext cx="869188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core modules including voice capture, logic routing, and execution function correctly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api communication between the python backend and cloud services is verified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system operations and hardware telemetry retrieval perform with minimal latency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has been successfully tested on windows for responsiveness and accuracy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091" y="348343"/>
            <a:ext cx="11458983" cy="62527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127;p8"/>
          <p:cNvSpPr txBox="1"/>
          <p:nvPr/>
        </p:nvSpPr>
        <p:spPr>
          <a:xfrm>
            <a:off x="838200" y="564416"/>
            <a:ext cx="99475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>
                <a:latin typeface="Agency FB" panose="020B0503020202020204" pitchFamily="34" charset="0"/>
              </a:rPr>
              <a:t>FUTURE ENHANCEMENT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794254"/>
            <a:ext cx="9220976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machine learning models for localized, offline anomaly detection in system behavior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with smart iot sensors for real-time environmental data monitoring and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cross-platform mobile application for remote desktop management and system control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cloud deployment for data scalability and cross-device profile synchronization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hardware analytics with graphical performance reports and historical system health summaries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natural language processing for supporting multi-lingual voice commands and localized dialects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ags/tag2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ags/tag3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ags/tag4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ags/tag5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ags/tag6.xml><?xml version="1.0" encoding="utf-8"?>
<p:tagLst xmlns:p="http://schemas.openxmlformats.org/presentationml/2006/main">
  <p:tag name="KSO_WM_DIAGRAM_VIRTUALLY_FRAME" val="{&quot;height&quot;:301.9592125984252,&quot;left&quot;:127.78110236220473,&quot;top&quot;:172.34141732283464,&quot;width&quot;:875.371102362204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8412</Words>
  <Application>WPS Presentation</Application>
  <PresentationFormat>Widescreen</PresentationFormat>
  <Paragraphs>295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SimSun</vt:lpstr>
      <vt:lpstr>Wingdings</vt:lpstr>
      <vt:lpstr>Arial Nova Cond</vt:lpstr>
      <vt:lpstr>Calibri</vt:lpstr>
      <vt:lpstr>Latha</vt:lpstr>
      <vt:lpstr>Times New Roman</vt:lpstr>
      <vt:lpstr>Calibri</vt:lpstr>
      <vt:lpstr>Agency FB</vt:lpstr>
      <vt:lpstr>Bahnschrift Condensed</vt:lpstr>
      <vt:lpstr>Calibri Light</vt:lpstr>
      <vt:lpstr>Microsoft YaHei</vt:lpstr>
      <vt:lpstr>Arial Unicode MS</vt:lpstr>
      <vt:lpstr>Bahnschrift SemiBold Condensed</vt:lpstr>
      <vt:lpstr>Segoe Print</vt:lpstr>
      <vt:lpstr>Office Theme</vt:lpstr>
      <vt:lpstr>AI PERSONAL ASSISTANT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SYSTEM DESIGN</vt:lpstr>
      <vt:lpstr>PowerPoint 演示文稿</vt:lpstr>
      <vt:lpstr>PowerPoint 演示文稿</vt:lpstr>
      <vt:lpstr>PowerPoint 演示文稿</vt:lpstr>
      <vt:lpstr>PowerPoint 演示文稿</vt:lpstr>
      <vt:lpstr>SYSTEM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ims3</dc:creator>
  <cp:lastModifiedBy>srinivasulu k</cp:lastModifiedBy>
  <cp:revision>43</cp:revision>
  <dcterms:created xsi:type="dcterms:W3CDTF">2026-02-04T03:50:00Z</dcterms:created>
  <dcterms:modified xsi:type="dcterms:W3CDTF">2026-03-01T13:47:16Z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181D74CD16CC46B991C5136EB7F9EDD2_12</vt:lpwstr>
  </property>
  <property fmtid="{D5CDD505-2E9C-101B-9397-08002B2CF9AE}" pid="3" name="KSOProductBuildVer">
    <vt:lpwstr>1033-12.2.0.23196</vt:lpwstr>
  </property>
</Properties>
</file>